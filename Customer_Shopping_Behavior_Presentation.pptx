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98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9225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4023360"/>
            <a:ext cx="4572000" cy="4572000"/>
          </a:xfrm>
          <a:prstGeom prst="ellipse">
            <a:avLst/>
          </a:prstGeom>
          <a:solidFill>
            <a:srgbClr val="B85042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ADCFC"/>
                </a:solidFill>
              </a:rPr>
              <a:t>RETAIL ANALYTICS  •  PYTHON  •  MYSQL  •  POWER BI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10241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</a:rPr>
              <a:t>Turning 3,900 transactions into a growth strategy for sales, engagement, and loyalty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D6"/>
                </a:solidFill>
              </a:rPr>
              <a:t> Presentation  | 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67335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E"/>
                </a:solidFill>
              </a:rPr>
              <a:t>Business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2020824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6B"/>
                </a:solidFill>
              </a:rPr>
              <a:t>Why this analysis matters to the business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E"/>
                </a:solidFill>
              </a:rPr>
              <a:t>Methodology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953512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6B"/>
                </a:solidFill>
              </a:rPr>
              <a:t>Python → MySQL → Power BI pipeline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557016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557016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35387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E"/>
                </a:solidFill>
              </a:rPr>
              <a:t>Key Findings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886200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6B"/>
                </a:solidFill>
              </a:rPr>
              <a:t>What the data reveals about customers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9704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89704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447141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E"/>
                </a:solidFill>
              </a:rPr>
              <a:t>Recommendations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818888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6B"/>
                </a:solidFill>
              </a:rPr>
              <a:t>Actions to drive growth and loyalty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422392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4223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54480" y="54041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1F2E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751576"/>
            <a:ext cx="8961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5A6B"/>
                </a:solidFill>
              </a:rPr>
              <a:t>Turning insight into an ongoing process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ADC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548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THE CHALLENGE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02920" y="210312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“How can the company leverage consumer shopping data to identify trends, improve customer engagement, and optimize marketing and product strategies?”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4920" y="126187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0" y="118872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2E"/>
                </a:solidFill>
              </a:rPr>
              <a:t>Management has noticed shifting purchasing patterns across demographics, categories, and channels.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74920" y="267919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5394960" y="260604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2E"/>
                </a:solidFill>
              </a:rPr>
              <a:t>Leadership wants to know which factors — discounts, reviews, seasonality, payment method — drive purchase decisions.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74920" y="4096512"/>
            <a:ext cx="128016" cy="128016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1" name="Text 9"/>
          <p:cNvSpPr/>
          <p:nvPr/>
        </p:nvSpPr>
        <p:spPr>
          <a:xfrm>
            <a:off x="5394960" y="4023360"/>
            <a:ext cx="6309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F1F2E"/>
                </a:solidFill>
              </a:rPr>
              <a:t>The goal: identify what drives repeat purchases and long-term loyalty, not just a single sale.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three tools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74520" y="205740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87452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1E2761"/>
                </a:solidFill>
              </a:rPr>
              <a:t>PYTHON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1F2E"/>
                </a:solidFill>
              </a:rPr>
              <a:t>Data Preparation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6B"/>
                </a:solidFill>
              </a:rPr>
              <a:t>Cleaned 3,900 records: imputed missing ratings, standardized schema, engineered age_group and purchase_frequency_days features.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23560" y="2057400"/>
            <a:ext cx="914400" cy="9144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562356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MY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29768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B85042"/>
                </a:solidFill>
              </a:rPr>
              <a:t>MYSQL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1F2E"/>
                </a:solidFill>
              </a:rPr>
              <a:t>Data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6B"/>
                </a:solidFill>
              </a:rPr>
              <a:t>12 SQL queries covering revenue, segmentation, product performance, and loyalty — run against the customer table.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1691640"/>
            <a:ext cx="3566160" cy="4206240"/>
          </a:xfrm>
          <a:prstGeom prst="roundRect">
            <a:avLst>
              <a:gd name="adj" fmla="val 2051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372600" y="2057400"/>
            <a:ext cx="914400" cy="914400"/>
          </a:xfrm>
          <a:prstGeom prst="ellipse">
            <a:avLst/>
          </a:prstGeom>
          <a:solidFill>
            <a:srgbClr val="50808E"/>
          </a:solidFill>
          <a:ln/>
        </p:spPr>
      </p:sp>
      <p:sp>
        <p:nvSpPr>
          <p:cNvPr id="18" name="Text 16"/>
          <p:cNvSpPr/>
          <p:nvPr/>
        </p:nvSpPr>
        <p:spPr>
          <a:xfrm>
            <a:off x="9372600" y="20574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PO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046720" y="3154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50808E"/>
                </a:solidFill>
              </a:rPr>
              <a:t>POWER BI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75320" y="35204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1F2E"/>
                </a:solidFill>
              </a:rPr>
              <a:t>Visualization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21040" y="402336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5A6B"/>
                </a:solidFill>
              </a:rPr>
              <a:t>Two-page interactive dashboard with slicers for category, season, subscription, and gender.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METHODOLOGY — PYTHON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&amp; feature engineering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Missing values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749040" y="1719072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E"/>
                </a:solidFill>
              </a:rPr>
              <a:t>37 blank Review Rating entries filled using the median rating within each product category.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587752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60904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Schema cleanup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49040" y="2660904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E"/>
                </a:solidFill>
              </a:rPr>
              <a:t>Columns lower-cased &amp; snake_cased; “Purchase Amount (USD)” renamed to purchase_amount.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529584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02736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age_group feature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49040" y="3602736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E"/>
                </a:solidFill>
              </a:rPr>
              <a:t>Age split into 4 quartile bins: Young Adult, Adult, Middle-aged, Senior.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4471416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54456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purchase_frequency_days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49040" y="4544568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E"/>
                </a:solidFill>
              </a:rPr>
              <a:t>Frequency labels (Weekly, Monthly, ...) mapped to numeric day counts for recency analysis.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413248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486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Redundancy removed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5486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1F2E"/>
                </a:solidFill>
              </a:rPr>
              <a:t>promo_code_used found identical to discount_applied in every row — dropped to avoid duplicate signals.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METHODOLOGY — MYSQL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queries answering real business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01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Revenue by gender &amp; age group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Who drives the most revenue?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92240" y="1801368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High-value discount shoppers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492240" y="235000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Which customers spend big and expect a deal?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19272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29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Top 5 rated products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77724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What should we merchandise as customer favorites?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319272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429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Subscriber vs. non-subscriber economics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492240" y="39776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Count, avg spend &amp; revenue by subscription status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946904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New / Returning / Loyal segmentation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777240" y="56052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Where is each customer in their lifecycle?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4946904"/>
            <a:ext cx="5394960" cy="1417320"/>
          </a:xfrm>
          <a:prstGeom prst="roundRect">
            <a:avLst>
              <a:gd name="adj" fmla="val 4516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505663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</a:rPr>
              <a:t>Top 3 items per category &amp; repeat buyers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492240" y="5605272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5A6B"/>
                </a:solidFill>
              </a:rPr>
              <a:t>What are the hero SKUs, and who keeps coming back?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</a:rPr>
              <a:t>KEY METRICS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business,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514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3.9K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F"/>
                </a:solidFill>
              </a:rPr>
              <a:t>Customers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37560" y="21031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37560" y="2514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$59.76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F"/>
                </a:solidFill>
              </a:rPr>
              <a:t>Avg. Purchase Amount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2514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$233K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0936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F"/>
                </a:solidFill>
              </a:rPr>
              <a:t>Total Revenue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0" y="210312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141B47"/>
          </a:solidFill>
          <a:ln w="12700">
            <a:solidFill>
              <a:srgbClr val="3A45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51460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ADCFC"/>
                </a:solidFill>
              </a:rPr>
              <a:t>3.75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098280" y="352044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F"/>
                </a:solidFill>
              </a:rPr>
              <a:t>Avg. Review Rating (/5)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937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892C4"/>
                </a:solidFill>
              </a:rPr>
              <a:t>Source: cleaned customer_shopping_behavior dataset (3,900 rows) — KPI cards from the Power BI 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Clothing leads; age groups spend evenly</a:t>
            </a:r>
            <a:endParaRPr lang="en-US" sz="3000" dirty="0"/>
          </a:p>
        </p:txBody>
      </p:sp>
      <p:pic>
        <p:nvPicPr>
          <p:cNvPr id="4" name="Image 0" descr="assets/c_revenue_categor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486400" cy="1901952"/>
          </a:xfrm>
          <a:prstGeom prst="rect">
            <a:avLst/>
          </a:prstGeom>
        </p:spPr>
      </p:pic>
      <p:pic>
        <p:nvPicPr>
          <p:cNvPr id="5" name="Image 1" descr="assets/c_revenue_agegrou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691640"/>
            <a:ext cx="5394960" cy="28072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3794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E"/>
                </a:solidFill>
              </a:rPr>
              <a:t>Clothing generates $104K — about 45% of total revenue — more than Accessories, Footwear, and Outerwear combined.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263640" y="4663440"/>
            <a:ext cx="5394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E"/>
                </a:solidFill>
              </a:rPr>
              <a:t>Young Adults lead at $62K, but revenue is fairly balanced across all four age bands ($56–$62K each).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biggest growth lever: subscriptions</a:t>
            </a:r>
            <a:endParaRPr lang="en-US" sz="3000" dirty="0"/>
          </a:p>
        </p:txBody>
      </p:sp>
      <p:pic>
        <p:nvPicPr>
          <p:cNvPr id="4" name="Image 0" descr="assets/c_subscriptio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783080"/>
            <a:ext cx="3108960" cy="2615184"/>
          </a:xfrm>
          <a:prstGeom prst="rect">
            <a:avLst/>
          </a:prstGeom>
        </p:spPr>
      </p:pic>
      <p:pic>
        <p:nvPicPr>
          <p:cNvPr id="5" name="Image 1" descr="assets/c_gend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898" y="1783080"/>
            <a:ext cx="2587752" cy="261518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680960" y="1783080"/>
            <a:ext cx="3977640" cy="4206240"/>
          </a:xfrm>
          <a:prstGeom prst="roundRect">
            <a:avLst>
              <a:gd name="adj" fmla="val 1839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909560" y="196596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B85042"/>
                </a:solidFill>
              </a:rPr>
              <a:t>73%</a:t>
            </a:r>
            <a:endParaRPr lang="en-US" sz="3800" dirty="0"/>
          </a:p>
        </p:txBody>
      </p:sp>
      <p:sp>
        <p:nvSpPr>
          <p:cNvPr id="8" name="Text 4"/>
          <p:cNvSpPr/>
          <p:nvPr/>
        </p:nvSpPr>
        <p:spPr>
          <a:xfrm>
            <a:off x="7909560" y="27432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E"/>
                </a:solidFill>
              </a:rPr>
              <a:t>of customers are NOT enrolled in the subscription program — the single largest untapped growth opportunity in this analysis.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7909560" y="39776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</a:rPr>
              <a:t>68% / 32%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7909560" y="452628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F1F2E"/>
                </a:solidFill>
              </a:rPr>
              <a:t>male-to-female split — an opportunity to broaden reach with female shoppers.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balanced product &amp; payment mix</a:t>
            </a:r>
            <a:endParaRPr lang="en-US" sz="3000" dirty="0"/>
          </a:p>
        </p:txBody>
      </p:sp>
      <p:pic>
        <p:nvPicPr>
          <p:cNvPr id="4" name="Image 0" descr="assets/c_topitem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5577840" cy="3227832"/>
          </a:xfrm>
          <a:prstGeom prst="rect">
            <a:avLst/>
          </a:prstGeom>
        </p:spPr>
      </p:pic>
      <p:pic>
        <p:nvPicPr>
          <p:cNvPr id="5" name="Image 1" descr="assets/c_paymen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691640"/>
            <a:ext cx="5349240" cy="30906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02920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E"/>
                </a:solidFill>
              </a:rPr>
              <a:t>Blouse, Jewelry, and Pants lead at 171 units each — the top 10 items cluster tightly (161–171 units), showing a broad product mix with no single dependency.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6309360" y="4846320"/>
            <a:ext cx="5349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E"/>
                </a:solidFill>
              </a:rPr>
              <a:t>Payment methods are used almost equally (15.7%–17.4% each) — every channel must be supported without friction.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KEY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Shipping, satisfaction &amp; geography</a:t>
            </a:r>
            <a:endParaRPr lang="en-US" sz="3000" dirty="0"/>
          </a:p>
        </p:txBody>
      </p:sp>
      <p:pic>
        <p:nvPicPr>
          <p:cNvPr id="4" name="Image 0" descr="assets/c_shipp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37360"/>
            <a:ext cx="3611880" cy="2688336"/>
          </a:xfrm>
          <a:prstGeom prst="rect">
            <a:avLst/>
          </a:prstGeom>
        </p:spPr>
      </p:pic>
      <p:pic>
        <p:nvPicPr>
          <p:cNvPr id="5" name="Image 1" descr="assets/c_ratin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37360"/>
            <a:ext cx="3429000" cy="2971800"/>
          </a:xfrm>
          <a:prstGeom prst="rect">
            <a:avLst/>
          </a:prstGeom>
        </p:spPr>
      </p:pic>
      <p:pic>
        <p:nvPicPr>
          <p:cNvPr id="6" name="Image 2" descr="assets/c_location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737360"/>
            <a:ext cx="3749040" cy="27889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7200" y="4572000"/>
            <a:ext cx="3611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E"/>
                </a:solidFill>
              </a:rPr>
              <a:t>Free Shipping leads revenue ($41K)</a:t>
            </a:r>
            <a:endParaRPr lang="en-US" sz="1250" dirty="0"/>
          </a:p>
        </p:txBody>
      </p:sp>
      <p:sp>
        <p:nvSpPr>
          <p:cNvPr id="8" name="Text 3"/>
          <p:cNvSpPr/>
          <p:nvPr/>
        </p:nvSpPr>
        <p:spPr>
          <a:xfrm>
            <a:off x="4251960" y="484632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E"/>
                </a:solidFill>
              </a:rPr>
              <a:t>Ratings are consistent across categories (3.7–3.8)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7863840" y="4663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1F2E"/>
                </a:solidFill>
              </a:rPr>
              <a:t>Revenue is broadly national — top 10 states range only $5.2–$5.8K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</a:rPr>
              <a:t>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to grow sales &amp; loyalty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556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68249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</a:rPr>
              <a:t>Grow subscriptions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09160" y="168249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</a:rPr>
              <a:t>Target the 73% unsubscribed base with an enrollment incentive — the single biggest lever.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55117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</a:rPr>
              <a:t>Protect &amp; extend categories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9160" y="255117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</a:rPr>
              <a:t>Keep Clothing strong; test bundling/promotion to lift Footwear &amp; Outerwear.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9300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93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341985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</a:rPr>
              <a:t>Broaden gender reach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09160" y="341985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</a:rPr>
              <a:t>Evaluate assortment and campaigns to grow the under-represented female segment.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36168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361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28853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</a:rPr>
              <a:t>Support every channel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09160" y="428853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</a:rPr>
              <a:t>Maintain frictionless payment &amp; shipping options across all six payment methods.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230368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5230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25880" y="5157216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ADCFC"/>
                </a:solidFill>
              </a:rPr>
              <a:t>Merchandise by data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09160" y="5157216"/>
            <a:ext cx="6949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6DAF2"/>
                </a:solidFill>
              </a:rPr>
              <a:t>Feature top-rated products; run lifecycle campaigns for New, Returning, and Loyal segments.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C4"/>
                </a:solidFill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85042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insight to an ongoing process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3162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53162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A/B test subscription incentive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931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B"/>
                </a:solidFill>
              </a:rPr>
              <a:t>Measure lift in repeat-purchase rate from a conversion offer.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2900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1198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41198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Add cohort/retention SQL query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931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B"/>
                </a:solidFill>
              </a:rPr>
              <a:t>Track subscriber vs. non-subscriber purchase frequency over time.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29234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29234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92240" y="3063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Layer in marketing spend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92240" y="3931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B"/>
                </a:solidFill>
              </a:rPr>
              <a:t>Compute ROI per campaign, category, and demographic segment.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9720" y="182880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7F8FC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72700" y="210312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172700" y="21031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372600" y="306324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Automate the pipeline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3931920"/>
            <a:ext cx="2331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5A6B"/>
                </a:solidFill>
              </a:rPr>
              <a:t>Schedule Python → MySQL → Power BI refresh so the dashboard stays current.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75720" y="6510528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9B8"/>
                </a:solidFill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7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6576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</a:rPr>
              <a:t>Questions &amp; discussion welcome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A6D6"/>
                </a:solidFill>
              </a:rPr>
              <a:t>Full detail available in the Project Report, SQL scripts, notebook, and Power BI dashboard.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937</Words>
  <Application>Microsoft Office PowerPoint</Application>
  <PresentationFormat>Widescreen</PresentationFormat>
  <Paragraphs>157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SAINA PATEL</cp:lastModifiedBy>
  <cp:revision>2</cp:revision>
  <dcterms:created xsi:type="dcterms:W3CDTF">2026-07-17T10:06:07Z</dcterms:created>
  <dcterms:modified xsi:type="dcterms:W3CDTF">2026-07-17T10:11:15Z</dcterms:modified>
</cp:coreProperties>
</file>